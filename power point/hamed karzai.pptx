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A23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219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4C1A-5929-228A-4766-8E5CAA91D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F0B28-CBD7-5B7D-77C7-10F9C6469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3335-E4D5-ACFB-407F-C23A4E95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9636-94F2-4A87-AB3E-19C469F0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947F1-0B53-EC43-D7ED-0EF8A98B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D20F-3D32-6E90-61BE-2355348F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D87F6-4516-7417-6D0B-1434190D6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210B3-D485-2A09-1A4B-EE9147B1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C34DD-B928-2028-3EF8-07C7D473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C0C6C-26AA-E9E7-5672-81B73617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5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32C4-D1A6-C295-1F59-55734DE3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9802F-5F8C-C25D-7FE2-012A59102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A9C3-7D06-5BB5-08DB-F254AE81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2F9C-833E-E83F-630E-DFB5001E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2182C-7EE0-89C4-7C43-755432C2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2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779A-6219-3DA4-E304-1BB49496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1995A-333D-E96B-FCA1-122D4B962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F12E8-2862-586A-2893-B9D7CCDCE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08777-2190-2D73-F867-AF14D858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4E0BD-CEB4-6B52-E6EA-16783C37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3E4FA-B864-FB4D-96D3-3A807A8F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5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B901-FDC4-CD81-D9EF-97FA0E8A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F3E57-D7FB-AE03-1BEE-89888CD9B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327CF-54DC-3A8E-4EB6-8F798E7A6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577D4-22ED-9498-2DB3-768526685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7CA98-6517-4227-6A89-3BE8DE5B1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C3BBA-9111-ABE2-134E-453BB31D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72ED9-B73A-0064-0B83-3C307EF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22370-E52C-7579-E78B-B60BF499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66B3-88C6-5143-9F12-8ADD44BE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F951B-3EC6-D337-1C4D-F8394E29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D59EA-28B2-C64F-9FB2-CEF7E2F0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5C2A4-0EDA-70D9-1782-8DEBE404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EF771-080F-DA61-C91D-BA4DD130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CECBF-1F0E-DE04-3B5C-5AF08BC5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7FD69-6EEF-6669-799A-D6BF518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62B6F90-5AD7-54F3-387C-D9402812F4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50765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4886A18-7760-C850-681E-9CBBF8A6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66003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8E504AD-824B-6E1B-5BFC-C60A0323D1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81241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D101B5-DB8E-B851-7495-16C5CC7F78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5527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7907124-640C-6B92-7A9F-CF48C33C92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1233889"/>
            <a:ext cx="2530207" cy="3415229"/>
          </a:xfrm>
          <a:custGeom>
            <a:avLst/>
            <a:gdLst>
              <a:gd name="connsiteX0" fmla="*/ 80182 w 2530207"/>
              <a:gd name="connsiteY0" fmla="*/ 0 h 3415229"/>
              <a:gd name="connsiteX1" fmla="*/ 2450025 w 2530207"/>
              <a:gd name="connsiteY1" fmla="*/ 0 h 3415229"/>
              <a:gd name="connsiteX2" fmla="*/ 2530207 w 2530207"/>
              <a:gd name="connsiteY2" fmla="*/ 80182 h 3415229"/>
              <a:gd name="connsiteX3" fmla="*/ 2530207 w 2530207"/>
              <a:gd name="connsiteY3" fmla="*/ 3335047 h 3415229"/>
              <a:gd name="connsiteX4" fmla="*/ 2450025 w 2530207"/>
              <a:gd name="connsiteY4" fmla="*/ 3415229 h 3415229"/>
              <a:gd name="connsiteX5" fmla="*/ 80182 w 2530207"/>
              <a:gd name="connsiteY5" fmla="*/ 3415229 h 3415229"/>
              <a:gd name="connsiteX6" fmla="*/ 0 w 2530207"/>
              <a:gd name="connsiteY6" fmla="*/ 3335047 h 3415229"/>
              <a:gd name="connsiteX7" fmla="*/ 0 w 2530207"/>
              <a:gd name="connsiteY7" fmla="*/ 80182 h 3415229"/>
              <a:gd name="connsiteX8" fmla="*/ 80182 w 2530207"/>
              <a:gd name="connsiteY8" fmla="*/ 0 h 341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0207" h="3415229">
                <a:moveTo>
                  <a:pt x="80182" y="0"/>
                </a:moveTo>
                <a:lnTo>
                  <a:pt x="2450025" y="0"/>
                </a:lnTo>
                <a:cubicBezTo>
                  <a:pt x="2494308" y="0"/>
                  <a:pt x="2530207" y="35899"/>
                  <a:pt x="2530207" y="80182"/>
                </a:cubicBezTo>
                <a:lnTo>
                  <a:pt x="2530207" y="3335047"/>
                </a:lnTo>
                <a:cubicBezTo>
                  <a:pt x="2530207" y="3379330"/>
                  <a:pt x="2494308" y="3415229"/>
                  <a:pt x="2450025" y="3415229"/>
                </a:cubicBezTo>
                <a:lnTo>
                  <a:pt x="80182" y="3415229"/>
                </a:lnTo>
                <a:cubicBezTo>
                  <a:pt x="35899" y="3415229"/>
                  <a:pt x="0" y="3379330"/>
                  <a:pt x="0" y="3335047"/>
                </a:cubicBezTo>
                <a:lnTo>
                  <a:pt x="0" y="80182"/>
                </a:lnTo>
                <a:cubicBezTo>
                  <a:pt x="0" y="35899"/>
                  <a:pt x="35899" y="0"/>
                  <a:pt x="801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2B90-5A66-7ED4-F6E7-00BE2BBF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95DD3-505C-9053-085E-826623C5C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6B633-D9DC-A31C-0358-94B956C0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65B5E-A44D-97A1-26AB-E66E5CB5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C99CD-8484-D31A-4400-735AE956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79B71-A653-FA1C-4640-6A8C71AB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4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B50E-81F6-C4EC-26F0-E204D70B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D6359-1874-3CEF-764D-1D54994A5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68BF2-5EDB-4F2D-3AC3-66566170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81B2B-B138-A230-F6D1-01D2B1F0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13A8-2F2A-621E-B3AF-90E0978E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4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3ABAA-8739-2985-7983-8B50C998F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DEF08-19A4-7533-FA82-C8C68BD3C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1210E-5B25-9946-7149-C994CAA8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26C0B-E06B-6222-75A6-50BDF0E5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A0933-1339-072E-2A9E-BBA90B65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1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50CF-01D3-48F6-B477-DF9BF0916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897E4-173B-4C3B-8776-B0A0D0014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04030-EDDA-4C67-976A-EB4DEE43E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BF9EF-ADBE-472D-8798-2ADE21AB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2BB54-0DC7-4E75-8803-7D401D21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82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29EC-DBA5-4625-84E0-B7978615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02C3D-BEA1-4D7F-956E-50C2C89EE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513C-B2E4-4A22-A9F5-B00DD74C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75B0A-E021-41DB-8149-4406E93B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D4EC-7DC9-431E-8C3A-71925160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58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0C68-BAC2-4E4F-8787-DABC5E14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D75DD-33FE-4BCD-AED5-B8B3D0A30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6CD9F-2C5A-4393-8C1C-2C9F8768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7416A-BD76-4DBA-AD2C-875EAAE03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01BF-3477-47DB-B0BC-C45C21EF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37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AF5B-CB19-4D08-A845-D766BFFF8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CA10F-BAE3-4448-B3E1-C6FEF2B86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5C77B-7D4D-41F8-A537-FC2EE5B5B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76ABB-4D53-46D2-A787-8B6320EE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3A919-6254-4D43-9CA8-8D3596B4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4FAC4-CC97-4EF6-A144-A345A04D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83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AF6F-5122-48F4-A0BA-4F8857DC3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739E8-D298-4727-A36F-7CAD42D36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8211D-C107-4401-AEFD-452B27F5D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A5D92-0E97-4415-A7F2-5FC7CBB41F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84BFA-BCAD-429F-9E3F-33A7BBF84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0078A-D8F5-4776-A563-32974701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716C5-7DE4-4E15-9C1B-AA7D744C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B0808-998B-46D5-931B-0230C624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47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3EF1-D408-4F31-9335-D999CEE9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07894-3C53-48F6-906C-E1C093CA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D436F-CE45-484A-BA21-AECF6EB4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1F0CA-DE84-41F8-8E55-88D0F432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488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D9A96-79D3-408C-9E59-2374F121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5FFEF-EDBA-44A1-8B41-550BC402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78B3C-2789-4EB0-80A8-E4F46BCB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35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471B-B833-4BA5-8C8F-556876E0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3637C-8670-4CEB-B0AE-5838BD619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F8F24-D533-4A78-A35C-454D0600F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766BF-CD59-42EA-AA81-AB2EE2208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511AF-BC18-4FBA-A9CD-5CC24748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E09C6-A079-44F9-91D3-CD6966C3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7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F64C-831B-4164-AE1D-7988921F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150A3A-4835-4824-815F-16615C026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DA72C-1AC5-4D16-BE4C-89E4D0929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1D2FD-A287-43B1-9643-52F3CA22E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56063-E286-4852-8BF3-71E57F2A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61FC9-35DE-4FD3-889A-E6F04A7B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62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0A15-7F18-4D66-B745-5325D402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FAA35-B4BB-4289-AD38-4FCE4BC0C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5D51C-5172-41EC-9C7A-663E956E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0F6FA-D792-4742-8B18-B83A119A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2C291-C450-4A51-8412-6DFC9B01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51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DBAFF-071A-4C30-8F64-7FE3A6165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3F2CA-1679-402D-B814-A14AC2458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BF25E-8B08-4D3E-A0F1-549EDEE8D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8508C-666A-47B9-8A88-75B940C3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CD723-A378-4368-A7D9-809C623B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2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7C850-6001-FC66-F37C-114D1705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BE204-3DC6-1C61-2C95-7450829E1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19B39-6D28-7DEF-F581-1C4F0481D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BAC9-8CF4-475A-8452-B951A43C5B2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E1C15-9996-C739-3E62-D65FDC371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E44C4-0AD4-5108-B7F0-FB38F9998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1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73A70-17A3-41C9-9A34-76FA8BE7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94E86-4E24-4725-AEB9-7AE544413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3980-C1F0-47F6-AAC4-68932B3F5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18A01-7A15-4D14-A8FA-2D418DF64D8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46712-4EAD-41F1-BC05-F1D6DB593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B16F-BA65-4AA1-85F0-A5461A9C0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2966C-520B-457A-B1CD-A87A4E65A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0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" Target="slide2.xml"/><Relationship Id="rId7" Type="http://schemas.openxmlformats.org/officeDocument/2006/relationships/image" Target="../media/image1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image" Target="../media/image4.png"/><Relationship Id="rId4" Type="http://schemas.openxmlformats.org/officeDocument/2006/relationships/slide" Target="slide3.xml"/><Relationship Id="rId9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" Target="slide2.xml"/><Relationship Id="rId7" Type="http://schemas.openxmlformats.org/officeDocument/2006/relationships/image" Target="../media/image1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Relationship Id="rId9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" Target="slide2.xml"/><Relationship Id="rId7" Type="http://schemas.openxmlformats.org/officeDocument/2006/relationships/image" Target="../media/image2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3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: Shape 9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1D92E8-E176-91D3-40AD-E60F8B5BA5DC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6BEF023-5085-1DAC-89D5-69F81E97AFE3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0AE3B9-6493-A616-73C6-E1C6EE8383A5}"/>
              </a:ext>
            </a:extLst>
          </p:cNvPr>
          <p:cNvSpPr txBox="1"/>
          <p:nvPr/>
        </p:nvSpPr>
        <p:spPr>
          <a:xfrm>
            <a:off x="6245187" y="4360636"/>
            <a:ext cx="1975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670595-08B7-CB6B-E62A-05E771632270}"/>
              </a:ext>
            </a:extLst>
          </p:cNvPr>
          <p:cNvSpPr txBox="1"/>
          <p:nvPr/>
        </p:nvSpPr>
        <p:spPr>
          <a:xfrm>
            <a:off x="8939805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Dubai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406615-E18F-6A28-4512-CC26BC9FD2A5}"/>
              </a:ext>
            </a:extLst>
          </p:cNvPr>
          <p:cNvSpPr txBox="1"/>
          <p:nvPr/>
        </p:nvSpPr>
        <p:spPr>
          <a:xfrm>
            <a:off x="8939805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About country here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2E1BFB-7042-E48E-594C-8E2B6791EED3}"/>
              </a:ext>
            </a:extLst>
          </p:cNvPr>
          <p:cNvSpPr txBox="1"/>
          <p:nvPr/>
        </p:nvSpPr>
        <p:spPr>
          <a:xfrm>
            <a:off x="11055043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Canada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AC7714-AE43-97B0-0021-1DB0147C5874}"/>
              </a:ext>
            </a:extLst>
          </p:cNvPr>
          <p:cNvSpPr txBox="1"/>
          <p:nvPr/>
        </p:nvSpPr>
        <p:spPr>
          <a:xfrm>
            <a:off x="11055043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About country here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FE13CC-1ADD-C0FE-5E0E-B69D9244FA3E}"/>
              </a:ext>
            </a:extLst>
          </p:cNvPr>
          <p:cNvSpPr txBox="1"/>
          <p:nvPr/>
        </p:nvSpPr>
        <p:spPr>
          <a:xfrm>
            <a:off x="13170281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Japan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44497D-3D65-9B59-CEFA-6E3540E801C0}"/>
              </a:ext>
            </a:extLst>
          </p:cNvPr>
          <p:cNvSpPr txBox="1"/>
          <p:nvPr/>
        </p:nvSpPr>
        <p:spPr>
          <a:xfrm>
            <a:off x="13170281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About country here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FAE8058-7E8D-E7E9-5DC8-351C3A19E058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hlinkClick r:id="rId2" action="ppaction://hlinksldjump"/>
            <a:extLst>
              <a:ext uri="{FF2B5EF4-FFF2-40B4-BE49-F238E27FC236}">
                <a16:creationId xmlns:a16="http://schemas.microsoft.com/office/drawing/2014/main" id="{49D48CE7-7D8E-CCEF-02DA-8375B3FF4BDF}"/>
              </a:ext>
            </a:extLst>
          </p:cNvPr>
          <p:cNvSpPr/>
          <p:nvPr/>
        </p:nvSpPr>
        <p:spPr>
          <a:xfrm>
            <a:off x="474134" y="675249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hlinkClick r:id="rId3" action="ppaction://hlinksldjump"/>
            <a:extLst>
              <a:ext uri="{FF2B5EF4-FFF2-40B4-BE49-F238E27FC236}">
                <a16:creationId xmlns:a16="http://schemas.microsoft.com/office/drawing/2014/main" id="{819310AF-4F33-228C-AA10-86FA5C14EF07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hlinkClick r:id="rId4" action="ppaction://hlinksldjump"/>
            <a:extLst>
              <a:ext uri="{FF2B5EF4-FFF2-40B4-BE49-F238E27FC236}">
                <a16:creationId xmlns:a16="http://schemas.microsoft.com/office/drawing/2014/main" id="{10D3A0AE-A99A-A861-BF8F-874C2D5D9C10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hlinkClick r:id="rId5" action="ppaction://hlinksldjump"/>
            <a:extLst>
              <a:ext uri="{FF2B5EF4-FFF2-40B4-BE49-F238E27FC236}">
                <a16:creationId xmlns:a16="http://schemas.microsoft.com/office/drawing/2014/main" id="{E6EEF30B-FEFE-4578-0D40-999D04295224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hlinkClick r:id="rId6" action="ppaction://hlinksldjump"/>
            <a:extLst>
              <a:ext uri="{FF2B5EF4-FFF2-40B4-BE49-F238E27FC236}">
                <a16:creationId xmlns:a16="http://schemas.microsoft.com/office/drawing/2014/main" id="{2DC64003-85DE-7E12-B1EC-A128B2D25B91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E19CDB6-2DBC-FDB9-808B-3AA8006B8B7A}"/>
              </a:ext>
            </a:extLst>
          </p:cNvPr>
          <p:cNvSpPr txBox="1"/>
          <p:nvPr/>
        </p:nvSpPr>
        <p:spPr>
          <a:xfrm>
            <a:off x="749299" y="1670721"/>
            <a:ext cx="5031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HR Policy Document: Leave Policy</a:t>
            </a:r>
            <a:endParaRPr lang="en-US" sz="28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425D5B-9A45-21C5-4DDB-C4088AF6A31A}"/>
              </a:ext>
            </a:extLst>
          </p:cNvPr>
          <p:cNvSpPr txBox="1"/>
          <p:nvPr/>
        </p:nvSpPr>
        <p:spPr>
          <a:xfrm>
            <a:off x="8431851" y="6284247"/>
            <a:ext cx="3471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</a:t>
            </a:r>
            <a:r>
              <a:rPr lang="en-US" sz="1400" b="1" dirty="0">
                <a:solidFill>
                  <a:schemeClr val="bg1"/>
                </a:solidFill>
              </a:rPr>
              <a:t> by: Elham Sadiqi</a:t>
            </a:r>
            <a:r>
              <a:rPr lang="prs-AF" sz="1400" b="1" dirty="0">
                <a:solidFill>
                  <a:schemeClr val="bg1"/>
                </a:solidFill>
              </a:rPr>
              <a:t> </a:t>
            </a:r>
            <a:endParaRPr lang="en-US" sz="1400" b="1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FC7A9-6DE4-4A7C-96D2-EF320CC61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520" y="2637477"/>
            <a:ext cx="521230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Ensure employees have enough rest and personal time to maintain work-life 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 clear guidelines on how employees can request and use leave.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Ensure fairness, transparency, and consistency in the approval and management of employee leave.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EE13D9B-36BF-9779-FDA2-2F6B32D4C11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8" r="12068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672047DB-A6AA-725D-C0E3-994AD7F78F7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" r="4439"/>
          <a:stretch>
            <a:fillRect/>
          </a:stretch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B28281EF-FE47-D591-4895-EE76A08DB6C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6" r="4476"/>
          <a:stretch>
            <a:fillRect/>
          </a:stretch>
        </p:blipFill>
        <p:spPr/>
      </p:pic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7ADD9BD7-68DD-5970-FF99-A83A086F888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9" r="30039"/>
          <a:stretch>
            <a:fillRect/>
          </a:stretch>
        </p:blipFill>
        <p:spPr>
          <a:xfrm>
            <a:off x="6076945" y="1233889"/>
            <a:ext cx="2549263" cy="3415229"/>
          </a:xfrm>
        </p:spPr>
      </p:pic>
    </p:spTree>
    <p:extLst>
      <p:ext uri="{BB962C8B-B14F-4D97-AF65-F5344CB8AC3E}">
        <p14:creationId xmlns:p14="http://schemas.microsoft.com/office/powerpoint/2010/main" val="265307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67068E5-43A1-E6CA-666D-0133334F8C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44FE1F-7948-84F7-7ACF-E4C89961427D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B6A1498-48A4-432D-2389-64F61F895575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20F20E-0A36-1CAB-CC8F-A4DB2005D5B4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hlinkClick r:id="rId2" action="ppaction://hlinksldjump"/>
            <a:extLst>
              <a:ext uri="{FF2B5EF4-FFF2-40B4-BE49-F238E27FC236}">
                <a16:creationId xmlns:a16="http://schemas.microsoft.com/office/drawing/2014/main" id="{F47A4194-7F53-659E-6C07-254B89E007C6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hlinkClick r:id="rId3" action="ppaction://hlinksldjump"/>
            <a:extLst>
              <a:ext uri="{FF2B5EF4-FFF2-40B4-BE49-F238E27FC236}">
                <a16:creationId xmlns:a16="http://schemas.microsoft.com/office/drawing/2014/main" id="{2A2B648B-B52B-4731-9A06-315E43E85CD2}"/>
              </a:ext>
            </a:extLst>
          </p:cNvPr>
          <p:cNvSpPr/>
          <p:nvPr/>
        </p:nvSpPr>
        <p:spPr>
          <a:xfrm>
            <a:off x="499534" y="1984392"/>
            <a:ext cx="321732" cy="3217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hlinkClick r:id="rId4" action="ppaction://hlinksldjump"/>
            <a:extLst>
              <a:ext uri="{FF2B5EF4-FFF2-40B4-BE49-F238E27FC236}">
                <a16:creationId xmlns:a16="http://schemas.microsoft.com/office/drawing/2014/main" id="{2DD045EE-433F-3ACA-0F12-999185A033FD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hlinkClick r:id="rId5" action="ppaction://hlinksldjump"/>
            <a:extLst>
              <a:ext uri="{FF2B5EF4-FFF2-40B4-BE49-F238E27FC236}">
                <a16:creationId xmlns:a16="http://schemas.microsoft.com/office/drawing/2014/main" id="{39113122-CBC7-C9F0-751B-9FADFF1699DD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6" action="ppaction://hlinksldjump"/>
            <a:extLst>
              <a:ext uri="{FF2B5EF4-FFF2-40B4-BE49-F238E27FC236}">
                <a16:creationId xmlns:a16="http://schemas.microsoft.com/office/drawing/2014/main" id="{8A190089-2C14-F1AE-EA27-E13A831B7157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9CE63E-09C4-7894-0F06-E8A4AA2E81D1}"/>
              </a:ext>
            </a:extLst>
          </p:cNvPr>
          <p:cNvSpPr txBox="1"/>
          <p:nvPr/>
        </p:nvSpPr>
        <p:spPr>
          <a:xfrm>
            <a:off x="1055230" y="1478053"/>
            <a:ext cx="482381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Types of Leave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Annual Leave:</a:t>
            </a:r>
          </a:p>
          <a:p>
            <a:r>
              <a:rPr lang="en-US" dirty="0">
                <a:solidFill>
                  <a:schemeClr val="bg1"/>
                </a:solidFill>
              </a:rPr>
              <a:t>Full-time employees are allowed to </a:t>
            </a:r>
            <a:r>
              <a:rPr lang="en-US" b="1" dirty="0">
                <a:solidFill>
                  <a:schemeClr val="bg1"/>
                </a:solidFill>
              </a:rPr>
              <a:t>20 working days</a:t>
            </a:r>
            <a:r>
              <a:rPr lang="en-US" dirty="0">
                <a:solidFill>
                  <a:schemeClr val="bg1"/>
                </a:solidFill>
              </a:rPr>
              <a:t> of paid annual leave per year.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Unused leave may be carried forward to the next year (up to 10 days).</a:t>
            </a:r>
          </a:p>
          <a:p>
            <a:pPr algn="r"/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F3EE2F-D29F-1EFD-53EE-980F4516C73C}"/>
              </a:ext>
            </a:extLst>
          </p:cNvPr>
          <p:cNvSpPr txBox="1"/>
          <p:nvPr/>
        </p:nvSpPr>
        <p:spPr>
          <a:xfrm>
            <a:off x="8431851" y="6284247"/>
            <a:ext cx="3471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 by: Elham Sadiqi</a:t>
            </a:r>
            <a:r>
              <a:rPr lang="prs-AF" sz="1200" b="1" dirty="0">
                <a:solidFill>
                  <a:schemeClr val="bg1"/>
                </a:solidFill>
              </a:rPr>
              <a:t> </a:t>
            </a:r>
            <a:endParaRPr lang="en-US" sz="1200" b="1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BED82C9-19DC-66E7-350C-6978BFC7A5E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1" r="19141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EF662159-7939-E55A-0F41-7443E5E87A9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6" r="4476"/>
          <a:stretch>
            <a:fillRect/>
          </a:stretch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A746A044-6874-5845-9D91-1E925C91F67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" r="44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99683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E1D96D7-6872-3F21-A1CC-CCDB913CD7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B9828E0-FECC-8AEB-BA64-A37C88B826E9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B2F59E6-7BF2-2D6E-A761-C46E73A05822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FA31B6-89F3-8B0D-AE06-04D378404828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hlinkClick r:id="rId2" action="ppaction://hlinksldjump"/>
            <a:extLst>
              <a:ext uri="{FF2B5EF4-FFF2-40B4-BE49-F238E27FC236}">
                <a16:creationId xmlns:a16="http://schemas.microsoft.com/office/drawing/2014/main" id="{76CC5E06-0E22-68A4-1004-B45ABC34D379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hlinkClick r:id="rId3" action="ppaction://hlinksldjump"/>
            <a:extLst>
              <a:ext uri="{FF2B5EF4-FFF2-40B4-BE49-F238E27FC236}">
                <a16:creationId xmlns:a16="http://schemas.microsoft.com/office/drawing/2014/main" id="{1AE855EC-2631-392A-6825-F27F3F1C3C39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4" action="ppaction://hlinksldjump"/>
            <a:extLst>
              <a:ext uri="{FF2B5EF4-FFF2-40B4-BE49-F238E27FC236}">
                <a16:creationId xmlns:a16="http://schemas.microsoft.com/office/drawing/2014/main" id="{B06FD7E7-FA23-F8E9-B39F-F7AE2723083A}"/>
              </a:ext>
            </a:extLst>
          </p:cNvPr>
          <p:cNvSpPr/>
          <p:nvPr/>
        </p:nvSpPr>
        <p:spPr>
          <a:xfrm>
            <a:off x="482601" y="3251202"/>
            <a:ext cx="355598" cy="3555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hlinkClick r:id="rId5" action="ppaction://hlinksldjump"/>
            <a:extLst>
              <a:ext uri="{FF2B5EF4-FFF2-40B4-BE49-F238E27FC236}">
                <a16:creationId xmlns:a16="http://schemas.microsoft.com/office/drawing/2014/main" id="{B3903564-A6DF-BD9D-92F0-21C4223043BB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hlinkClick r:id="rId6" action="ppaction://hlinksldjump"/>
            <a:extLst>
              <a:ext uri="{FF2B5EF4-FFF2-40B4-BE49-F238E27FC236}">
                <a16:creationId xmlns:a16="http://schemas.microsoft.com/office/drawing/2014/main" id="{1FFD949E-005F-EDBE-BD44-89BBA653CFE1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9DFEB8-1ECC-4EB3-E3F5-03ADCEE1F391}"/>
              </a:ext>
            </a:extLst>
          </p:cNvPr>
          <p:cNvSpPr txBox="1"/>
          <p:nvPr/>
        </p:nvSpPr>
        <p:spPr>
          <a:xfrm>
            <a:off x="838199" y="1720840"/>
            <a:ext cx="475535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Sick Leave:</a:t>
            </a:r>
          </a:p>
          <a:p>
            <a:r>
              <a:rPr lang="en-US" dirty="0">
                <a:solidFill>
                  <a:schemeClr val="bg1"/>
                </a:solidFill>
              </a:rPr>
              <a:t>Employees are </a:t>
            </a:r>
            <a:r>
              <a:rPr lang="en-US" b="1" dirty="0">
                <a:solidFill>
                  <a:schemeClr val="bg1"/>
                </a:solidFill>
              </a:rPr>
              <a:t>allowed</a:t>
            </a:r>
            <a:r>
              <a:rPr lang="en-US" dirty="0">
                <a:solidFill>
                  <a:schemeClr val="bg1"/>
                </a:solidFill>
              </a:rPr>
              <a:t> 10 days of paid sick leave per year.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medical certificate is required for absences exceeding </a:t>
            </a:r>
            <a:r>
              <a:rPr lang="en-US" b="1" dirty="0">
                <a:solidFill>
                  <a:schemeClr val="bg1"/>
                </a:solidFill>
              </a:rPr>
              <a:t>two consecutive days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Unused sick leave cannot be carried forward.</a:t>
            </a:r>
          </a:p>
          <a:p>
            <a:pPr algn="r"/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9DA86-64BF-26FB-26A7-19AA2F47AFEB}"/>
              </a:ext>
            </a:extLst>
          </p:cNvPr>
          <p:cNvSpPr txBox="1"/>
          <p:nvPr/>
        </p:nvSpPr>
        <p:spPr>
          <a:xfrm>
            <a:off x="8431851" y="6284247"/>
            <a:ext cx="3471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 by: Elham Sadiqi</a:t>
            </a:r>
            <a:r>
              <a:rPr lang="prs-AF" sz="1200" dirty="0">
                <a:solidFill>
                  <a:schemeClr val="bg1"/>
                </a:solidFill>
              </a:rPr>
              <a:t> </a:t>
            </a:r>
            <a:endParaRPr lang="en-US" sz="12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BC0B1EE-102E-FF84-B695-56924AF7C7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5" r="12965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C19D3D1-F42E-9EC0-F78D-30D0B8AB97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6" r="44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8308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7F24EE4-5258-22CF-68F9-D66D10D1F75C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F52B2D2-8CBC-DBC5-BCE5-F75EB0E70055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E8F3CFE-B61C-196A-EF87-0363A19A6DA5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hlinkClick r:id="rId2" action="ppaction://hlinksldjump"/>
            <a:extLst>
              <a:ext uri="{FF2B5EF4-FFF2-40B4-BE49-F238E27FC236}">
                <a16:creationId xmlns:a16="http://schemas.microsoft.com/office/drawing/2014/main" id="{D17DF177-A2E8-CCED-2A87-95ABEE5B63F0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hlinkClick r:id="rId3" action="ppaction://hlinksldjump"/>
            <a:extLst>
              <a:ext uri="{FF2B5EF4-FFF2-40B4-BE49-F238E27FC236}">
                <a16:creationId xmlns:a16="http://schemas.microsoft.com/office/drawing/2014/main" id="{2DDCB084-038A-DD69-9695-16B476375C16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4" action="ppaction://hlinksldjump"/>
            <a:extLst>
              <a:ext uri="{FF2B5EF4-FFF2-40B4-BE49-F238E27FC236}">
                <a16:creationId xmlns:a16="http://schemas.microsoft.com/office/drawing/2014/main" id="{2CAE00B7-3FCC-FC96-07CD-B65F394FFFAD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hlinkClick r:id="rId5" action="ppaction://hlinksldjump"/>
            <a:extLst>
              <a:ext uri="{FF2B5EF4-FFF2-40B4-BE49-F238E27FC236}">
                <a16:creationId xmlns:a16="http://schemas.microsoft.com/office/drawing/2014/main" id="{D53EC54C-C7A1-329B-2809-322FD357C57E}"/>
              </a:ext>
            </a:extLst>
          </p:cNvPr>
          <p:cNvSpPr/>
          <p:nvPr/>
        </p:nvSpPr>
        <p:spPr>
          <a:xfrm>
            <a:off x="474134" y="4526478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hlinkClick r:id="rId6" action="ppaction://hlinksldjump"/>
            <a:extLst>
              <a:ext uri="{FF2B5EF4-FFF2-40B4-BE49-F238E27FC236}">
                <a16:creationId xmlns:a16="http://schemas.microsoft.com/office/drawing/2014/main" id="{C0A5D6B3-CE31-D605-DCCF-6C8346CD58FF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04075B-21C9-DA1F-B936-AFEDCB9E81F2}"/>
              </a:ext>
            </a:extLst>
          </p:cNvPr>
          <p:cNvSpPr txBox="1"/>
          <p:nvPr/>
        </p:nvSpPr>
        <p:spPr>
          <a:xfrm>
            <a:off x="958618" y="1708716"/>
            <a:ext cx="44990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Emergency / Casual Leave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Up to </a:t>
            </a:r>
            <a:r>
              <a:rPr lang="en-US" b="1" dirty="0">
                <a:solidFill>
                  <a:schemeClr val="bg1"/>
                </a:solidFill>
              </a:rPr>
              <a:t>5 days per year</a:t>
            </a:r>
            <a:r>
              <a:rPr lang="en-US" dirty="0">
                <a:solidFill>
                  <a:schemeClr val="bg1"/>
                </a:solidFill>
              </a:rPr>
              <a:t> may be taken for personal or family emergencies.</a:t>
            </a:r>
          </a:p>
          <a:p>
            <a:r>
              <a:rPr lang="en-US" dirty="0">
                <a:solidFill>
                  <a:schemeClr val="bg1"/>
                </a:solidFill>
              </a:rPr>
              <a:t>Must be reported to the supervisor </a:t>
            </a:r>
            <a:r>
              <a:rPr lang="en-US" b="1" dirty="0">
                <a:solidFill>
                  <a:schemeClr val="bg1"/>
                </a:solidFill>
              </a:rPr>
              <a:t>as soon as possible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r"/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C504E0-1853-138C-7042-5401B84005AB}"/>
              </a:ext>
            </a:extLst>
          </p:cNvPr>
          <p:cNvSpPr txBox="1"/>
          <p:nvPr/>
        </p:nvSpPr>
        <p:spPr>
          <a:xfrm>
            <a:off x="8431851" y="6284247"/>
            <a:ext cx="3471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 by: Elham Sadiqi</a:t>
            </a:r>
            <a:r>
              <a:rPr lang="prs-AF" sz="1200" dirty="0">
                <a:solidFill>
                  <a:schemeClr val="bg1"/>
                </a:solidFill>
              </a:rPr>
              <a:t> </a:t>
            </a:r>
            <a:endParaRPr lang="en-US" sz="12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FFE011E-7209-0E93-E359-60FF2450C6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5" r="1296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72183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C7F5E9D-5C96-4FC5-929E-869488850961}"/>
              </a:ext>
            </a:extLst>
          </p:cNvPr>
          <p:cNvSpPr/>
          <p:nvPr/>
        </p:nvSpPr>
        <p:spPr>
          <a:xfrm>
            <a:off x="-1" y="5618922"/>
            <a:ext cx="3022302" cy="1239078"/>
          </a:xfrm>
          <a:custGeom>
            <a:avLst/>
            <a:gdLst>
              <a:gd name="connsiteX0" fmla="*/ 0 w 3022302"/>
              <a:gd name="connsiteY0" fmla="*/ 0 h 1239078"/>
              <a:gd name="connsiteX1" fmla="*/ 2687635 w 3022302"/>
              <a:gd name="connsiteY1" fmla="*/ 0 h 1239078"/>
              <a:gd name="connsiteX2" fmla="*/ 3022302 w 3022302"/>
              <a:gd name="connsiteY2" fmla="*/ 619539 h 1239078"/>
              <a:gd name="connsiteX3" fmla="*/ 2687635 w 3022302"/>
              <a:gd name="connsiteY3" fmla="*/ 1239078 h 1239078"/>
              <a:gd name="connsiteX4" fmla="*/ 0 w 3022302"/>
              <a:gd name="connsiteY4" fmla="*/ 1239078 h 1239078"/>
              <a:gd name="connsiteX5" fmla="*/ 0 w 3022302"/>
              <a:gd name="connsiteY5" fmla="*/ 0 h 12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22302" h="1239078">
                <a:moveTo>
                  <a:pt x="0" y="0"/>
                </a:moveTo>
                <a:lnTo>
                  <a:pt x="2687635" y="0"/>
                </a:lnTo>
                <a:lnTo>
                  <a:pt x="3022302" y="619539"/>
                </a:lnTo>
                <a:lnTo>
                  <a:pt x="2687635" y="1239078"/>
                </a:lnTo>
                <a:lnTo>
                  <a:pt x="0" y="1239078"/>
                </a:lnTo>
                <a:lnTo>
                  <a:pt x="0" y="0"/>
                </a:lnTo>
                <a:close/>
              </a:path>
            </a:pathLst>
          </a:custGeom>
          <a:solidFill>
            <a:srgbClr val="1B68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74FAF3B-19DF-46C0-8E89-E1628E8CB073}"/>
              </a:ext>
            </a:extLst>
          </p:cNvPr>
          <p:cNvSpPr/>
          <p:nvPr/>
        </p:nvSpPr>
        <p:spPr>
          <a:xfrm>
            <a:off x="2819351" y="5618922"/>
            <a:ext cx="2188569" cy="1239078"/>
          </a:xfrm>
          <a:custGeom>
            <a:avLst/>
            <a:gdLst>
              <a:gd name="connsiteX0" fmla="*/ 0 w 2188569"/>
              <a:gd name="connsiteY0" fmla="*/ 0 h 1239078"/>
              <a:gd name="connsiteX1" fmla="*/ 1853902 w 2188569"/>
              <a:gd name="connsiteY1" fmla="*/ 0 h 1239078"/>
              <a:gd name="connsiteX2" fmla="*/ 2188569 w 2188569"/>
              <a:gd name="connsiteY2" fmla="*/ 619539 h 1239078"/>
              <a:gd name="connsiteX3" fmla="*/ 1853902 w 2188569"/>
              <a:gd name="connsiteY3" fmla="*/ 1239078 h 1239078"/>
              <a:gd name="connsiteX4" fmla="*/ 0 w 2188569"/>
              <a:gd name="connsiteY4" fmla="*/ 1239078 h 1239078"/>
              <a:gd name="connsiteX5" fmla="*/ 334667 w 2188569"/>
              <a:gd name="connsiteY5" fmla="*/ 619539 h 1239078"/>
              <a:gd name="connsiteX6" fmla="*/ 0 w 2188569"/>
              <a:gd name="connsiteY6" fmla="*/ 0 h 12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8569" h="1239078">
                <a:moveTo>
                  <a:pt x="0" y="0"/>
                </a:moveTo>
                <a:lnTo>
                  <a:pt x="1853902" y="0"/>
                </a:lnTo>
                <a:lnTo>
                  <a:pt x="2188569" y="619539"/>
                </a:lnTo>
                <a:lnTo>
                  <a:pt x="1853902" y="1239078"/>
                </a:lnTo>
                <a:lnTo>
                  <a:pt x="0" y="1239078"/>
                </a:lnTo>
                <a:lnTo>
                  <a:pt x="334667" y="619539"/>
                </a:lnTo>
                <a:lnTo>
                  <a:pt x="0" y="0"/>
                </a:lnTo>
                <a:close/>
              </a:path>
            </a:pathLst>
          </a:custGeom>
          <a:solidFill>
            <a:srgbClr val="218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ACF1636-BA7C-4F94-93B5-AE3E2558F894}"/>
              </a:ext>
            </a:extLst>
          </p:cNvPr>
          <p:cNvSpPr/>
          <p:nvPr/>
        </p:nvSpPr>
        <p:spPr>
          <a:xfrm>
            <a:off x="4804969" y="5618922"/>
            <a:ext cx="2188569" cy="1239078"/>
          </a:xfrm>
          <a:custGeom>
            <a:avLst/>
            <a:gdLst>
              <a:gd name="connsiteX0" fmla="*/ 0 w 2188569"/>
              <a:gd name="connsiteY0" fmla="*/ 0 h 1239078"/>
              <a:gd name="connsiteX1" fmla="*/ 1853902 w 2188569"/>
              <a:gd name="connsiteY1" fmla="*/ 0 h 1239078"/>
              <a:gd name="connsiteX2" fmla="*/ 2188569 w 2188569"/>
              <a:gd name="connsiteY2" fmla="*/ 619539 h 1239078"/>
              <a:gd name="connsiteX3" fmla="*/ 1853902 w 2188569"/>
              <a:gd name="connsiteY3" fmla="*/ 1239078 h 1239078"/>
              <a:gd name="connsiteX4" fmla="*/ 0 w 2188569"/>
              <a:gd name="connsiteY4" fmla="*/ 1239078 h 1239078"/>
              <a:gd name="connsiteX5" fmla="*/ 334667 w 2188569"/>
              <a:gd name="connsiteY5" fmla="*/ 619539 h 1239078"/>
              <a:gd name="connsiteX6" fmla="*/ 0 w 2188569"/>
              <a:gd name="connsiteY6" fmla="*/ 0 h 12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8569" h="1239078">
                <a:moveTo>
                  <a:pt x="0" y="0"/>
                </a:moveTo>
                <a:lnTo>
                  <a:pt x="1853902" y="0"/>
                </a:lnTo>
                <a:lnTo>
                  <a:pt x="2188569" y="619539"/>
                </a:lnTo>
                <a:lnTo>
                  <a:pt x="1853902" y="1239078"/>
                </a:lnTo>
                <a:lnTo>
                  <a:pt x="0" y="1239078"/>
                </a:lnTo>
                <a:lnTo>
                  <a:pt x="334667" y="619539"/>
                </a:lnTo>
                <a:lnTo>
                  <a:pt x="0" y="0"/>
                </a:lnTo>
                <a:close/>
              </a:path>
            </a:pathLst>
          </a:custGeom>
          <a:solidFill>
            <a:srgbClr val="49B1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D52F4AA-590A-4F24-9915-89F0552BD04B}"/>
              </a:ext>
            </a:extLst>
          </p:cNvPr>
          <p:cNvSpPr/>
          <p:nvPr/>
        </p:nvSpPr>
        <p:spPr>
          <a:xfrm>
            <a:off x="6790587" y="5618922"/>
            <a:ext cx="2188569" cy="1239078"/>
          </a:xfrm>
          <a:custGeom>
            <a:avLst/>
            <a:gdLst>
              <a:gd name="connsiteX0" fmla="*/ 0 w 2188569"/>
              <a:gd name="connsiteY0" fmla="*/ 0 h 1239078"/>
              <a:gd name="connsiteX1" fmla="*/ 1853902 w 2188569"/>
              <a:gd name="connsiteY1" fmla="*/ 0 h 1239078"/>
              <a:gd name="connsiteX2" fmla="*/ 2188569 w 2188569"/>
              <a:gd name="connsiteY2" fmla="*/ 619539 h 1239078"/>
              <a:gd name="connsiteX3" fmla="*/ 1853902 w 2188569"/>
              <a:gd name="connsiteY3" fmla="*/ 1239078 h 1239078"/>
              <a:gd name="connsiteX4" fmla="*/ 0 w 2188569"/>
              <a:gd name="connsiteY4" fmla="*/ 1239078 h 1239078"/>
              <a:gd name="connsiteX5" fmla="*/ 334667 w 2188569"/>
              <a:gd name="connsiteY5" fmla="*/ 619539 h 1239078"/>
              <a:gd name="connsiteX6" fmla="*/ 0 w 2188569"/>
              <a:gd name="connsiteY6" fmla="*/ 0 h 12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8569" h="1239078">
                <a:moveTo>
                  <a:pt x="0" y="0"/>
                </a:moveTo>
                <a:lnTo>
                  <a:pt x="1853902" y="0"/>
                </a:lnTo>
                <a:lnTo>
                  <a:pt x="2188569" y="619539"/>
                </a:lnTo>
                <a:lnTo>
                  <a:pt x="1853902" y="1239078"/>
                </a:lnTo>
                <a:lnTo>
                  <a:pt x="0" y="1239078"/>
                </a:lnTo>
                <a:lnTo>
                  <a:pt x="334667" y="619539"/>
                </a:lnTo>
                <a:lnTo>
                  <a:pt x="0" y="0"/>
                </a:lnTo>
                <a:close/>
              </a:path>
            </a:pathLst>
          </a:custGeom>
          <a:solidFill>
            <a:srgbClr val="60C5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7497BE-73E9-4C41-B332-3F67AE6038FE}"/>
              </a:ext>
            </a:extLst>
          </p:cNvPr>
          <p:cNvSpPr/>
          <p:nvPr/>
        </p:nvSpPr>
        <p:spPr>
          <a:xfrm>
            <a:off x="8776205" y="5618922"/>
            <a:ext cx="3415795" cy="1239078"/>
          </a:xfrm>
          <a:custGeom>
            <a:avLst/>
            <a:gdLst>
              <a:gd name="connsiteX0" fmla="*/ 0 w 3415795"/>
              <a:gd name="connsiteY0" fmla="*/ 0 h 1239078"/>
              <a:gd name="connsiteX1" fmla="*/ 3415795 w 3415795"/>
              <a:gd name="connsiteY1" fmla="*/ 0 h 1239078"/>
              <a:gd name="connsiteX2" fmla="*/ 3415795 w 3415795"/>
              <a:gd name="connsiteY2" fmla="*/ 1239078 h 1239078"/>
              <a:gd name="connsiteX3" fmla="*/ 0 w 3415795"/>
              <a:gd name="connsiteY3" fmla="*/ 1239078 h 1239078"/>
              <a:gd name="connsiteX4" fmla="*/ 334667 w 3415795"/>
              <a:gd name="connsiteY4" fmla="*/ 619539 h 1239078"/>
              <a:gd name="connsiteX5" fmla="*/ 0 w 3415795"/>
              <a:gd name="connsiteY5" fmla="*/ 0 h 12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15795" h="1239078">
                <a:moveTo>
                  <a:pt x="0" y="0"/>
                </a:moveTo>
                <a:lnTo>
                  <a:pt x="3415795" y="0"/>
                </a:lnTo>
                <a:lnTo>
                  <a:pt x="3415795" y="1239078"/>
                </a:lnTo>
                <a:lnTo>
                  <a:pt x="0" y="1239078"/>
                </a:lnTo>
                <a:lnTo>
                  <a:pt x="334667" y="619539"/>
                </a:lnTo>
                <a:lnTo>
                  <a:pt x="0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FCEFC0E-8404-4DB1-8FA8-7241FA501117}"/>
              </a:ext>
            </a:extLst>
          </p:cNvPr>
          <p:cNvCxnSpPr/>
          <p:nvPr/>
        </p:nvCxnSpPr>
        <p:spPr>
          <a:xfrm flipV="1">
            <a:off x="787791" y="1575582"/>
            <a:ext cx="0" cy="40433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ACEE0DA-A9D3-426C-848F-84938ECB2E42}"/>
              </a:ext>
            </a:extLst>
          </p:cNvPr>
          <p:cNvGrpSpPr/>
          <p:nvPr/>
        </p:nvGrpSpPr>
        <p:grpSpPr>
          <a:xfrm>
            <a:off x="768023" y="1528389"/>
            <a:ext cx="2513927" cy="2130250"/>
            <a:chOff x="823279" y="1477109"/>
            <a:chExt cx="2513927" cy="213025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9E70902-58D4-4703-8BE5-34A9312764BE}"/>
                </a:ext>
              </a:extLst>
            </p:cNvPr>
            <p:cNvSpPr txBox="1"/>
            <p:nvPr/>
          </p:nvSpPr>
          <p:spPr>
            <a:xfrm>
              <a:off x="823280" y="1477109"/>
              <a:ext cx="5854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1B6893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59CB5C8-30B9-4D81-9718-AFA0289540A1}"/>
                </a:ext>
              </a:extLst>
            </p:cNvPr>
            <p:cNvSpPr txBox="1"/>
            <p:nvPr/>
          </p:nvSpPr>
          <p:spPr>
            <a:xfrm>
              <a:off x="823279" y="1904130"/>
              <a:ext cx="24265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2000" dirty="0">
                  <a:solidFill>
                    <a:srgbClr val="FFFF00"/>
                  </a:solidFill>
                </a:rPr>
                <a:t>Request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1B43C91-5CFF-4527-B950-B3F1A4068CE9}"/>
                </a:ext>
              </a:extLst>
            </p:cNvPr>
            <p:cNvSpPr txBox="1"/>
            <p:nvPr/>
          </p:nvSpPr>
          <p:spPr>
            <a:xfrm>
              <a:off x="823280" y="2222364"/>
              <a:ext cx="251392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>
                  <a:solidFill>
                    <a:schemeClr val="bg1"/>
                  </a:solidFill>
                </a:rPr>
                <a:t>Submit leave through the HR system (or in writing) at least </a:t>
              </a:r>
              <a:r>
                <a:rPr lang="en-US" sz="1400" b="1" dirty="0">
                  <a:solidFill>
                    <a:schemeClr val="bg1"/>
                  </a:solidFill>
                </a:rPr>
                <a:t>7 days in advance</a:t>
              </a:r>
              <a:r>
                <a:rPr lang="en-US" sz="1400" dirty="0">
                  <a:solidFill>
                    <a:schemeClr val="bg1"/>
                  </a:solidFill>
                </a:rPr>
                <a:t>.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For emergencies, inform your supervisor </a:t>
              </a:r>
              <a:r>
                <a:rPr lang="en-US" sz="1400" b="1" dirty="0">
                  <a:solidFill>
                    <a:schemeClr val="bg1"/>
                  </a:solidFill>
                </a:rPr>
                <a:t>immediately</a:t>
              </a:r>
              <a:r>
                <a:rPr lang="en-US" sz="1400" dirty="0">
                  <a:solidFill>
                    <a:schemeClr val="bg1"/>
                  </a:solidFill>
                </a:rPr>
                <a:t> by phone or email.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4A9581-89D2-4328-99DE-7D245BBA2B61}"/>
              </a:ext>
            </a:extLst>
          </p:cNvPr>
          <p:cNvCxnSpPr/>
          <p:nvPr/>
        </p:nvCxnSpPr>
        <p:spPr>
          <a:xfrm flipV="1">
            <a:off x="3258461" y="1575582"/>
            <a:ext cx="0" cy="40433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8EF6A5E-A09D-4E24-9E14-EEC8870B55D4}"/>
              </a:ext>
            </a:extLst>
          </p:cNvPr>
          <p:cNvCxnSpPr/>
          <p:nvPr/>
        </p:nvCxnSpPr>
        <p:spPr>
          <a:xfrm flipV="1">
            <a:off x="5311811" y="1575582"/>
            <a:ext cx="0" cy="40433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875EEA2-4A0E-4FE5-A70E-3F690FCF2577}"/>
              </a:ext>
            </a:extLst>
          </p:cNvPr>
          <p:cNvCxnSpPr/>
          <p:nvPr/>
        </p:nvCxnSpPr>
        <p:spPr>
          <a:xfrm flipV="1">
            <a:off x="7631617" y="1575582"/>
            <a:ext cx="0" cy="404334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2CF0CA1-91EB-42A3-A89F-99D537C3BDD9}"/>
              </a:ext>
            </a:extLst>
          </p:cNvPr>
          <p:cNvGrpSpPr/>
          <p:nvPr/>
        </p:nvGrpSpPr>
        <p:grpSpPr>
          <a:xfrm>
            <a:off x="3281950" y="1477109"/>
            <a:ext cx="2106040" cy="1710262"/>
            <a:chOff x="823279" y="1477109"/>
            <a:chExt cx="2106040" cy="171026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8F9A961-6AA4-45C5-9785-831B16BEAB65}"/>
                </a:ext>
              </a:extLst>
            </p:cNvPr>
            <p:cNvSpPr txBox="1"/>
            <p:nvPr/>
          </p:nvSpPr>
          <p:spPr>
            <a:xfrm>
              <a:off x="823280" y="1477109"/>
              <a:ext cx="5854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2188AC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EF1E89-5FD7-4997-9F34-A0CB3ADBF79F}"/>
                </a:ext>
              </a:extLst>
            </p:cNvPr>
            <p:cNvSpPr txBox="1"/>
            <p:nvPr/>
          </p:nvSpPr>
          <p:spPr>
            <a:xfrm>
              <a:off x="823279" y="1904130"/>
              <a:ext cx="19970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2000" dirty="0">
                  <a:solidFill>
                    <a:srgbClr val="FFFF00"/>
                  </a:solidFill>
                </a:rPr>
                <a:t>Approval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771D168-4E25-4FF2-9784-C355C77CF076}"/>
                </a:ext>
              </a:extLst>
            </p:cNvPr>
            <p:cNvSpPr txBox="1"/>
            <p:nvPr/>
          </p:nvSpPr>
          <p:spPr>
            <a:xfrm>
              <a:off x="838028" y="2233264"/>
              <a:ext cx="20912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>
                  <a:solidFill>
                    <a:schemeClr val="bg1"/>
                  </a:solidFill>
                </a:rPr>
                <a:t>Supervisor reviews based on </a:t>
              </a:r>
              <a:r>
                <a:rPr lang="en-US" sz="1400" b="1" dirty="0">
                  <a:solidFill>
                    <a:schemeClr val="bg1"/>
                  </a:solidFill>
                </a:rPr>
                <a:t>workload</a:t>
              </a:r>
              <a:r>
                <a:rPr lang="en-US" sz="1400" dirty="0">
                  <a:solidFill>
                    <a:schemeClr val="bg1"/>
                  </a:solidFill>
                </a:rPr>
                <a:t>; HR checks </a:t>
              </a:r>
              <a:r>
                <a:rPr lang="en-US" sz="1400" b="1" dirty="0">
                  <a:solidFill>
                    <a:schemeClr val="bg1"/>
                  </a:solidFill>
                </a:rPr>
                <a:t>leave balance</a:t>
              </a:r>
              <a:r>
                <a:rPr lang="en-US" sz="1400" dirty="0">
                  <a:solidFill>
                    <a:schemeClr val="bg1"/>
                  </a:solidFill>
                </a:rPr>
                <a:t> and confirms.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732B162-D169-45FD-99C4-0D1D7EF8337C}"/>
              </a:ext>
            </a:extLst>
          </p:cNvPr>
          <p:cNvGrpSpPr/>
          <p:nvPr/>
        </p:nvGrpSpPr>
        <p:grpSpPr>
          <a:xfrm>
            <a:off x="5345161" y="1477109"/>
            <a:ext cx="2323235" cy="1699362"/>
            <a:chOff x="823280" y="1477109"/>
            <a:chExt cx="2323235" cy="169936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BFE5F1-7B50-43C1-8AAC-AFD6EC0DBDC3}"/>
                </a:ext>
              </a:extLst>
            </p:cNvPr>
            <p:cNvSpPr txBox="1"/>
            <p:nvPr/>
          </p:nvSpPr>
          <p:spPr>
            <a:xfrm>
              <a:off x="823280" y="1477109"/>
              <a:ext cx="5854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9B1C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57045B6-8278-4ECD-8BB2-5AFDBEEEDCCA}"/>
                </a:ext>
              </a:extLst>
            </p:cNvPr>
            <p:cNvSpPr txBox="1"/>
            <p:nvPr/>
          </p:nvSpPr>
          <p:spPr>
            <a:xfrm>
              <a:off x="823280" y="1904130"/>
              <a:ext cx="18751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FF00"/>
                  </a:solidFill>
                </a:rPr>
                <a:t>Recording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CFC41DE-4097-4E09-AB91-A0475F6E593B}"/>
                </a:ext>
              </a:extLst>
            </p:cNvPr>
            <p:cNvSpPr txBox="1"/>
            <p:nvPr/>
          </p:nvSpPr>
          <p:spPr>
            <a:xfrm>
              <a:off x="823280" y="2222364"/>
              <a:ext cx="232323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>
                  <a:solidFill>
                    <a:schemeClr val="bg1"/>
                  </a:solidFill>
                </a:rPr>
                <a:t>Approved leave is </a:t>
              </a:r>
              <a:r>
                <a:rPr lang="en-US" sz="1400" b="1" dirty="0">
                  <a:solidFill>
                    <a:schemeClr val="bg1"/>
                  </a:solidFill>
                </a:rPr>
                <a:t>logged in the HR system</a:t>
              </a:r>
              <a:r>
                <a:rPr lang="en-US" sz="1400" dirty="0">
                  <a:solidFill>
                    <a:schemeClr val="bg1"/>
                  </a:solidFill>
                </a:rPr>
                <a:t>.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Any </a:t>
              </a:r>
              <a:r>
                <a:rPr lang="en-US" sz="1400" b="1" dirty="0">
                  <a:solidFill>
                    <a:schemeClr val="bg1"/>
                  </a:solidFill>
                </a:rPr>
                <a:t>changes or cancellations</a:t>
              </a:r>
              <a:r>
                <a:rPr lang="en-US" sz="1400" dirty="0">
                  <a:solidFill>
                    <a:schemeClr val="bg1"/>
                  </a:solidFill>
                </a:rPr>
                <a:t> must be updated.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1D0F97A-23B7-4648-BCA8-9E0B2EDAAE82}"/>
              </a:ext>
            </a:extLst>
          </p:cNvPr>
          <p:cNvGrpSpPr/>
          <p:nvPr/>
        </p:nvGrpSpPr>
        <p:grpSpPr>
          <a:xfrm>
            <a:off x="7651804" y="1477109"/>
            <a:ext cx="2814556" cy="1485898"/>
            <a:chOff x="823279" y="1477109"/>
            <a:chExt cx="2814556" cy="148589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0A60264-D461-47A5-85E4-DB2B582AC632}"/>
                </a:ext>
              </a:extLst>
            </p:cNvPr>
            <p:cNvSpPr txBox="1"/>
            <p:nvPr/>
          </p:nvSpPr>
          <p:spPr>
            <a:xfrm>
              <a:off x="823280" y="1477109"/>
              <a:ext cx="5854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60C5CC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BAA39F2-99D5-4C41-BBF4-5A9B8C77C212}"/>
                </a:ext>
              </a:extLst>
            </p:cNvPr>
            <p:cNvSpPr txBox="1"/>
            <p:nvPr/>
          </p:nvSpPr>
          <p:spPr>
            <a:xfrm>
              <a:off x="823279" y="1904130"/>
              <a:ext cx="21640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2000" dirty="0">
                  <a:solidFill>
                    <a:srgbClr val="FFFF00"/>
                  </a:solidFill>
                </a:rPr>
                <a:t>Return</a:t>
              </a:r>
              <a:r>
                <a:rPr lang="en-US" sz="1600" dirty="0">
                  <a:solidFill>
                    <a:srgbClr val="FFFF00"/>
                  </a:solidFill>
                </a:rPr>
                <a:t> </a:t>
              </a:r>
              <a:r>
                <a:rPr lang="en-US" sz="2000" dirty="0">
                  <a:solidFill>
                    <a:srgbClr val="FFFF00"/>
                  </a:solidFill>
                </a:rPr>
                <a:t>to</a:t>
              </a:r>
              <a:r>
                <a:rPr lang="en-US" sz="1600" dirty="0">
                  <a:solidFill>
                    <a:srgbClr val="FFFF00"/>
                  </a:solidFill>
                </a:rPr>
                <a:t> </a:t>
              </a:r>
              <a:r>
                <a:rPr lang="en-US" sz="2000" dirty="0">
                  <a:solidFill>
                    <a:srgbClr val="FFFF00"/>
                  </a:solidFill>
                </a:rPr>
                <a:t>Work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72A5B01-279B-4FB2-B4A2-680A9AD3355A}"/>
                </a:ext>
              </a:extLst>
            </p:cNvPr>
            <p:cNvSpPr txBox="1"/>
            <p:nvPr/>
          </p:nvSpPr>
          <p:spPr>
            <a:xfrm>
              <a:off x="832100" y="2224343"/>
              <a:ext cx="280573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>
                  <a:solidFill>
                    <a:schemeClr val="bg1"/>
                  </a:solidFill>
                </a:rPr>
                <a:t>Report on the </a:t>
              </a:r>
              <a:r>
                <a:rPr lang="en-US" sz="1400" b="1" dirty="0">
                  <a:solidFill>
                    <a:schemeClr val="bg1"/>
                  </a:solidFill>
                </a:rPr>
                <a:t>next working day</a:t>
              </a:r>
              <a:r>
                <a:rPr lang="en-US" sz="1400" dirty="0">
                  <a:solidFill>
                    <a:schemeClr val="bg1"/>
                  </a:solidFill>
                </a:rPr>
                <a:t>.</a:t>
              </a:r>
              <a:br>
                <a:rPr lang="en-US" sz="1400" dirty="0">
                  <a:solidFill>
                    <a:schemeClr val="bg1"/>
                  </a:solidFill>
                </a:rPr>
              </a:br>
              <a:r>
                <a:rPr lang="en-US" sz="1400" dirty="0">
                  <a:solidFill>
                    <a:schemeClr val="bg1"/>
                  </a:solidFill>
                </a:rPr>
                <a:t>For medical leave, provide a </a:t>
              </a:r>
              <a:r>
                <a:rPr lang="en-US" sz="1400" b="1" dirty="0">
                  <a:solidFill>
                    <a:schemeClr val="bg1"/>
                  </a:solidFill>
                </a:rPr>
                <a:t>fitness certificate</a:t>
              </a:r>
              <a:r>
                <a:rPr lang="en-US" sz="1400" dirty="0">
                  <a:solidFill>
                    <a:schemeClr val="bg1"/>
                  </a:solidFill>
                </a:rPr>
                <a:t> if requested.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00E31EE-AD35-44FB-8812-2B3ED09AA2D9}"/>
              </a:ext>
            </a:extLst>
          </p:cNvPr>
          <p:cNvGrpSpPr/>
          <p:nvPr/>
        </p:nvGrpSpPr>
        <p:grpSpPr>
          <a:xfrm>
            <a:off x="9826424" y="1905687"/>
            <a:ext cx="2137748" cy="593184"/>
            <a:chOff x="910678" y="1904130"/>
            <a:chExt cx="2137748" cy="593184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3CCA483-E621-43CF-B9DA-035893C4F944}"/>
                </a:ext>
              </a:extLst>
            </p:cNvPr>
            <p:cNvSpPr txBox="1"/>
            <p:nvPr/>
          </p:nvSpPr>
          <p:spPr>
            <a:xfrm>
              <a:off x="930864" y="1904130"/>
              <a:ext cx="21175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9A3893E-81CC-4C44-AC96-4AD444D2B902}"/>
                </a:ext>
              </a:extLst>
            </p:cNvPr>
            <p:cNvSpPr txBox="1"/>
            <p:nvPr/>
          </p:nvSpPr>
          <p:spPr>
            <a:xfrm>
              <a:off x="910678" y="2235704"/>
              <a:ext cx="20912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8F52F199-D566-4614-BF91-6506E2D3FBA7}"/>
              </a:ext>
            </a:extLst>
          </p:cNvPr>
          <p:cNvSpPr txBox="1"/>
          <p:nvPr/>
        </p:nvSpPr>
        <p:spPr>
          <a:xfrm>
            <a:off x="0" y="17891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600" dirty="0">
                <a:solidFill>
                  <a:schemeClr val="bg1"/>
                </a:solidFill>
              </a:rPr>
              <a:t>Leave Procedure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688AAB-82C4-3A9E-EE8A-3682FEF04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Build your product or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Create branding and online presence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Launch the first version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Start your business operations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35E148-FEA9-DC42-9BBF-A51B3AB01B88}"/>
              </a:ext>
            </a:extLst>
          </p:cNvPr>
          <p:cNvSpPr txBox="1"/>
          <p:nvPr/>
        </p:nvSpPr>
        <p:spPr>
          <a:xfrm>
            <a:off x="10119132" y="6555976"/>
            <a:ext cx="2426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Created By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: Elham Sadiqi</a:t>
            </a:r>
          </a:p>
        </p:txBody>
      </p:sp>
    </p:spTree>
    <p:extLst>
      <p:ext uri="{BB962C8B-B14F-4D97-AF65-F5344CB8AC3E}">
        <p14:creationId xmlns:p14="http://schemas.microsoft.com/office/powerpoint/2010/main" val="345529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5" grpId="0" animBg="1"/>
      <p:bldP spid="14" grpId="0" animBg="1"/>
      <p:bldP spid="7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297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Poppins</vt:lpstr>
      <vt:lpstr>Poppins ExtraBold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Dxf Ibrahim</dc:creator>
  <cp:lastModifiedBy>Elham Sadiqi</cp:lastModifiedBy>
  <cp:revision>7</cp:revision>
  <dcterms:created xsi:type="dcterms:W3CDTF">2023-10-17T00:38:49Z</dcterms:created>
  <dcterms:modified xsi:type="dcterms:W3CDTF">2025-11-10T06:29:42Z</dcterms:modified>
</cp:coreProperties>
</file>